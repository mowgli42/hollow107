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D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3D4F5F"/>
                </a:solidFill>
                <a:latin typeface="Calibri"/>
              </a:rPr>
              <a:t>INTERNAL CONCEPT BRIEF  ·  AUGUST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9728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>
                <a:solidFill>
                  <a:srgbClr val="F3EFE6"/>
                </a:solidFill>
                <a:latin typeface="Georgia"/>
              </a:rPr>
              <a:t>The Brain 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383280"/>
            <a:ext cx="100584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F3EFE6"/>
                </a:solidFill>
                <a:latin typeface="Calibri"/>
              </a:rPr>
              <a:t>Capturing lab and flight-test knowledge so Field Service
and later 107s are not starting from folklore.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C5F66"/>
                </a:solidFill>
                <a:latin typeface="Calibri"/>
              </a:rPr>
              <a:t>Not a technical order  ·  Not an airworthy disposition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3D4F5F"/>
                </a:solidFill>
                <a:latin typeface="Calibri"/>
              </a:rPr>
              <a:t>THE LEAK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A1C1F"/>
                </a:solidFill>
                <a:latin typeface="Georgia"/>
              </a:rPr>
              <a:t>Knowledge is created as the jet is built.
It does not travel with the jet.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377440"/>
            <a:ext cx="3566160" cy="3200400"/>
          </a:xfrm>
          <a:prstGeom prst="roundRect">
            <a:avLst/>
          </a:prstGeom>
          <a:solidFill>
            <a:srgbClr val="FAF8F2"/>
          </a:solidFill>
          <a:ln w="9525">
            <a:solidFill>
              <a:srgbClr val="C9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56032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3D4F5F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26080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A1C1F"/>
                </a:solidFill>
                <a:latin typeface="Georgia"/>
              </a:rPr>
              <a:t>Created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520440"/>
            <a:ext cx="310896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C5F66"/>
                </a:solidFill>
                <a:latin typeface="Calibri"/>
              </a:rPr>
              <a:t>Supplier reports, source, lab racks, tickets, flight-test cards, good and bad logs.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377440"/>
            <a:ext cx="3566160" cy="3200400"/>
          </a:xfrm>
          <a:prstGeom prst="roundRect">
            <a:avLst/>
          </a:prstGeom>
          <a:solidFill>
            <a:srgbClr val="FAF8F2"/>
          </a:solidFill>
          <a:ln w="9525">
            <a:solidFill>
              <a:srgbClr val="C9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56032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3D4F5F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926080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A1C1F"/>
                </a:solidFill>
                <a:latin typeface="Georgia"/>
              </a:rPr>
              <a:t>Published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520440"/>
            <a:ext cx="310896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C5F66"/>
                </a:solidFill>
                <a:latin typeface="Calibri"/>
              </a:rPr>
              <a:t>A procedure, late and flattened. Config-blind. No log signature.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377440"/>
            <a:ext cx="3566160" cy="3200400"/>
          </a:xfrm>
          <a:prstGeom prst="roundRect">
            <a:avLst/>
          </a:prstGeom>
          <a:solidFill>
            <a:srgbClr val="1A1C1F"/>
          </a:solidFill>
          <a:ln w="9525">
            <a:solidFill>
              <a:srgbClr val="1A1C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56032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3D4F5F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926080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3EFE6"/>
                </a:solidFill>
                <a:latin typeface="Georgia"/>
              </a:rPr>
              <a:t>Lost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520440"/>
            <a:ext cx="310896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C9C2B2"/>
                </a:solidFill>
                <a:latin typeface="Calibri"/>
              </a:rPr>
              <a:t>The pairing of ticket + OFP + bad log + good log never leaves the lab.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C5F66"/>
                </a:solidFill>
                <a:latin typeface="Calibri"/>
              </a:rPr>
              <a:t>BRAIN BOOK  ·  INTERNAL  ·  CONCEPT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510528"/>
            <a:ext cx="1188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C5F66"/>
                </a:solidFill>
                <a:latin typeface="Calibri"/>
              </a:rPr>
              <a:t>2  / 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3D4F5F"/>
                </a:solidFill>
                <a:latin typeface="Calibri"/>
              </a:rPr>
              <a:t>WHY A TO IS NOT ENOUGH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A1C1F"/>
                </a:solidFill>
                <a:latin typeface="Georgia"/>
              </a:rPr>
              <a:t>Procedures stay. They cannot hold the evidence.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C5F66"/>
                </a:solidFill>
                <a:latin typeface="Calibri"/>
              </a:rPr>
              <a:t>Airworthy steps still live in the signed book. The Brain Book holds what the TO flattens away.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075688"/>
            <a:ext cx="384048" cy="384048"/>
          </a:xfrm>
          <a:prstGeom prst="ellipse">
            <a:avLst/>
          </a:prstGeom>
          <a:solidFill>
            <a:srgbClr val="1A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12264"/>
            <a:ext cx="384048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3EFE6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965960"/>
            <a:ext cx="9601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1C1F"/>
                </a:solidFill>
                <a:latin typeface="Georgia"/>
              </a:rPr>
              <a:t>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331720"/>
            <a:ext cx="9601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C5F66"/>
                </a:solidFill>
                <a:latin typeface="Calibri"/>
              </a:rPr>
              <a:t>Written after the learning happened.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081528"/>
            <a:ext cx="384048" cy="384048"/>
          </a:xfrm>
          <a:prstGeom prst="ellipse">
            <a:avLst/>
          </a:prstGeom>
          <a:solidFill>
            <a:srgbClr val="1A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118104"/>
            <a:ext cx="384048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3EFE6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971800"/>
            <a:ext cx="9601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1C1F"/>
                </a:solidFill>
                <a:latin typeface="Georgia"/>
              </a:rPr>
              <a:t>Flattened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37560"/>
            <a:ext cx="9601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C5F66"/>
                </a:solidFill>
                <a:latin typeface="Calibri"/>
              </a:rPr>
              <a:t>One symptom → one action. No OFP split.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087368"/>
            <a:ext cx="384048" cy="384048"/>
          </a:xfrm>
          <a:prstGeom prst="ellipse">
            <a:avLst/>
          </a:prstGeom>
          <a:solidFill>
            <a:srgbClr val="1A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123944"/>
            <a:ext cx="384048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3EFE6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977639"/>
            <a:ext cx="9601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1C1F"/>
                </a:solidFill>
                <a:latin typeface="Georgia"/>
              </a:rPr>
              <a:t>Silent on logs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343400"/>
            <a:ext cx="9601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C5F66"/>
                </a:solidFill>
                <a:latin typeface="Calibri"/>
              </a:rPr>
              <a:t>Does not say what the BIT stream looked like.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093208"/>
            <a:ext cx="384048" cy="384048"/>
          </a:xfrm>
          <a:prstGeom prst="ellipse">
            <a:avLst/>
          </a:prstGeom>
          <a:solidFill>
            <a:srgbClr val="1A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129784"/>
            <a:ext cx="384048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3EFE6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983480"/>
            <a:ext cx="9601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1C1F"/>
                </a:solidFill>
                <a:latin typeface="Georgia"/>
              </a:rPr>
              <a:t>No IS / IS-NOT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349240"/>
            <a:ext cx="9601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C5F66"/>
                </a:solidFill>
                <a:latin typeface="Calibri"/>
              </a:rPr>
              <a:t>Does not say which SN, mode, or site it is not.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C5F66"/>
                </a:solidFill>
                <a:latin typeface="Calibri"/>
              </a:rPr>
              <a:t>BRAIN BOOK  ·  INTERNAL  ·  CONCEPT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510528"/>
            <a:ext cx="1188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C5F66"/>
                </a:solidFill>
                <a:latin typeface="Calibri"/>
              </a:rPr>
              <a:t>3  / 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3D4F5F"/>
                </a:solidFill>
                <a:latin typeface="Calibri"/>
              </a:rPr>
              <a:t>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A1C1F"/>
                </a:solidFill>
                <a:latin typeface="Georgia"/>
              </a:rPr>
              <a:t>Four objects, versioned to OFP.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65960"/>
            <a:ext cx="5486400" cy="1828800"/>
          </a:xfrm>
          <a:prstGeom prst="roundRect">
            <a:avLst>
              <a:gd name="adj" fmla="val 8000"/>
            </a:avLst>
          </a:prstGeom>
          <a:solidFill>
            <a:srgbClr val="FAF8F2"/>
          </a:solidFill>
          <a:ln w="9525">
            <a:solidFill>
              <a:srgbClr val="C9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075688"/>
            <a:ext cx="5157216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C1F"/>
                </a:solidFill>
                <a:latin typeface="Calibri"/>
              </a:rPr>
              <a:t>Event dictionary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386584"/>
            <a:ext cx="5157216" cy="12984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C5F66"/>
                </a:solidFill>
                <a:latin typeface="Calibri"/>
              </a:rPr>
              <a:t>Log strings and BIT codes mapped to file:line and meaning. Built from source first.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965960"/>
            <a:ext cx="5486400" cy="1828800"/>
          </a:xfrm>
          <a:prstGeom prst="roundRect">
            <a:avLst>
              <a:gd name="adj" fmla="val 8000"/>
            </a:avLst>
          </a:prstGeom>
          <a:solidFill>
            <a:srgbClr val="FAF8F2"/>
          </a:solidFill>
          <a:ln w="9525">
            <a:solidFill>
              <a:srgbClr val="C9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1" y="2075688"/>
            <a:ext cx="5157216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C1F"/>
                </a:solidFill>
                <a:latin typeface="Calibri"/>
              </a:rPr>
              <a:t>Mode baselines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1" y="2386584"/>
            <a:ext cx="5157216" cy="12984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C5F66"/>
                </a:solidFill>
                <a:latin typeface="Calibri"/>
              </a:rPr>
              <a:t>What healthy power-up, align, or a test card emits on this OFP.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977639"/>
            <a:ext cx="5486400" cy="1828800"/>
          </a:xfrm>
          <a:prstGeom prst="roundRect">
            <a:avLst>
              <a:gd name="adj" fmla="val 8000"/>
            </a:avLst>
          </a:prstGeom>
          <a:solidFill>
            <a:srgbClr val="FAF8F2"/>
          </a:solidFill>
          <a:ln w="9525">
            <a:solidFill>
              <a:srgbClr val="C9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4087368"/>
            <a:ext cx="5157216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C1F"/>
                </a:solidFill>
                <a:latin typeface="Calibri"/>
              </a:rPr>
              <a:t>Signatures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398264"/>
            <a:ext cx="5157216" cy="12984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C5F66"/>
                </a:solidFill>
                <a:latin typeface="Calibri"/>
              </a:rPr>
              <a:t>IS / IS-NOT, events only in the bad log, distinguishing check, resolution, citations.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3977639"/>
            <a:ext cx="5486400" cy="1828800"/>
          </a:xfrm>
          <a:prstGeom prst="roundRect">
            <a:avLst>
              <a:gd name="adj" fmla="val 8000"/>
            </a:avLst>
          </a:prstGeom>
          <a:solidFill>
            <a:srgbClr val="FAF8F2"/>
          </a:solidFill>
          <a:ln w="9525">
            <a:solidFill>
              <a:srgbClr val="C9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1" y="4087368"/>
            <a:ext cx="5157216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C1F"/>
                </a:solidFill>
                <a:latin typeface="Calibri"/>
              </a:rPr>
              <a:t>Ticket digests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1" y="4398264"/>
            <a:ext cx="5157216" cy="12984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C5F66"/>
                </a:solidFill>
                <a:latin typeface="Calibri"/>
              </a:rPr>
              <a:t>What was tried, what failed, what closed it — the narrative a TO never keeps.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C5F66"/>
                </a:solidFill>
                <a:latin typeface="Calibri"/>
              </a:rPr>
              <a:t>BRAIN BOOK  ·  INTERNAL  ·  CONCEPT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510528"/>
            <a:ext cx="1188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C5F66"/>
                </a:solidFill>
                <a:latin typeface="Calibri"/>
              </a:rPr>
              <a:t>4  / 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3D4F5F"/>
                </a:solidFill>
                <a:latin typeface="Calibri"/>
              </a:rPr>
              <a:t>OPERATING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A1C1F"/>
                </a:solidFill>
                <a:latin typeface="Georgia"/>
              </a:rPr>
              <a:t>Three phases. One book.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11680"/>
            <a:ext cx="3611880" cy="109728"/>
          </a:xfrm>
          <a:prstGeom prst="rect">
            <a:avLst/>
          </a:prstGeom>
          <a:solidFill>
            <a:srgbClr val="3D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121408"/>
            <a:ext cx="3611880" cy="3840480"/>
          </a:xfrm>
          <a:prstGeom prst="roundRect">
            <a:avLst/>
          </a:prstGeom>
          <a:solidFill>
            <a:srgbClr val="FAF8F2"/>
          </a:solidFill>
          <a:ln w="9525">
            <a:solidFill>
              <a:srgbClr val="C9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3154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3D4F5F"/>
                </a:solidFill>
                <a:latin typeface="Calibri"/>
              </a:rPr>
              <a:t>Phase 1  · 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43200"/>
            <a:ext cx="3154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A1C1F"/>
                </a:solidFill>
                <a:latin typeface="Georgia"/>
              </a:rPr>
              <a:t>Generate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03320"/>
            <a:ext cx="31546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C5F66"/>
                </a:solidFill>
                <a:latin typeface="Calibri"/>
              </a:rPr>
              <a:t>Compile source, docs, tickets, and paired logs into draft signatures. Human review stamps truth.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2011680"/>
            <a:ext cx="3611880" cy="109728"/>
          </a:xfrm>
          <a:prstGeom prst="rect">
            <a:avLst/>
          </a:prstGeom>
          <a:solidFill>
            <a:srgbClr val="1A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43400" y="2121408"/>
            <a:ext cx="3611880" cy="3840480"/>
          </a:xfrm>
          <a:prstGeom prst="roundRect">
            <a:avLst/>
          </a:prstGeom>
          <a:solidFill>
            <a:srgbClr val="FAF8F2"/>
          </a:solidFill>
          <a:ln w="9525">
            <a:solidFill>
              <a:srgbClr val="C9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331720"/>
            <a:ext cx="3154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3D4F5F"/>
                </a:solidFill>
                <a:latin typeface="Calibri"/>
              </a:rPr>
              <a:t>Phase 2  ·  Later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743200"/>
            <a:ext cx="3154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A1C1F"/>
                </a:solidFill>
                <a:latin typeface="Georgia"/>
              </a:rPr>
              <a:t>107 triage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703320"/>
            <a:ext cx="31546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C5F66"/>
                </a:solidFill>
                <a:latin typeface="Calibri"/>
              </a:rPr>
              <a:t>Completeness gate first. Missing OFP, SN, or logs become callback questions — not a diagnosis.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2011680"/>
            <a:ext cx="3611880" cy="109728"/>
          </a:xfrm>
          <a:prstGeom prst="rect">
            <a:avLst/>
          </a:prstGeom>
          <a:solidFill>
            <a:srgbClr val="1A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38160" y="2121408"/>
            <a:ext cx="3611880" cy="3840480"/>
          </a:xfrm>
          <a:prstGeom prst="roundRect">
            <a:avLst/>
          </a:prstGeom>
          <a:solidFill>
            <a:srgbClr val="FAF8F2"/>
          </a:solidFill>
          <a:ln w="9525">
            <a:solidFill>
              <a:srgbClr val="C9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2331720"/>
            <a:ext cx="3154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3D4F5F"/>
                </a:solidFill>
                <a:latin typeface="Calibri"/>
              </a:rPr>
              <a:t>Phase 3  ·  Floor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743200"/>
            <a:ext cx="31546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A1C1F"/>
                </a:solidFill>
                <a:latin typeface="Georgia"/>
              </a:rPr>
              <a:t>FSR log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703320"/>
            <a:ext cx="31546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C5F66"/>
                </a:solidFill>
                <a:latin typeface="Calibri"/>
              </a:rPr>
              <a:t>Decode → match signatures → LLM on residue → one kill-check. FSR remains the authority.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C5F66"/>
                </a:solidFill>
                <a:latin typeface="Calibri"/>
              </a:rPr>
              <a:t>BRAIN BOOK  ·  INTERNAL  ·  CONCEPT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10528"/>
            <a:ext cx="1188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C5F66"/>
                </a:solidFill>
                <a:latin typeface="Calibri"/>
              </a:rPr>
              <a:t>5  / 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3D4F5F"/>
                </a:solidFill>
                <a:latin typeface="Calibri"/>
              </a:rPr>
              <a:t>PHASE 1  ·  BRAIN BOOK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A1C1F"/>
                </a:solidFill>
                <a:latin typeface="Georgia"/>
              </a:rPr>
              <a:t>The LLM is a compiler, not an oracle.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C5F66"/>
                </a:solidFill>
                <a:latin typeface="Calibri"/>
              </a:rPr>
              <a:t>Source names events. Tickets supply the story. Paired logs create the signature.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286000"/>
            <a:ext cx="2176272" cy="3017520"/>
          </a:xfrm>
          <a:prstGeom prst="roundRect">
            <a:avLst/>
          </a:prstGeom>
          <a:solidFill>
            <a:srgbClr val="FAF8F2"/>
          </a:solidFill>
          <a:ln w="9525">
            <a:solidFill>
              <a:srgbClr val="C9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" y="2468880"/>
            <a:ext cx="1956816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3D4F5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" y="2834640"/>
            <a:ext cx="1956816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1C1F"/>
                </a:solidFill>
                <a:latin typeface="Georgia"/>
              </a:rPr>
              <a:t>Source + 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3794760"/>
            <a:ext cx="1956816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C5F66"/>
                </a:solidFill>
                <a:latin typeface="Calibri"/>
              </a:rPr>
              <a:t>BIT enums, log strings, ICD names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52344" y="2286000"/>
            <a:ext cx="2176272" cy="3017520"/>
          </a:xfrm>
          <a:prstGeom prst="roundRect">
            <a:avLst/>
          </a:prstGeom>
          <a:solidFill>
            <a:srgbClr val="FAF8F2"/>
          </a:solidFill>
          <a:ln w="9525">
            <a:solidFill>
              <a:srgbClr val="C9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62072" y="2468880"/>
            <a:ext cx="1956816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3D4F5F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62072" y="2834640"/>
            <a:ext cx="1956816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1C1F"/>
                </a:solidFill>
                <a:latin typeface="Georgia"/>
              </a:rPr>
              <a:t>Tickets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62072" y="3794760"/>
            <a:ext cx="1956816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C5F66"/>
                </a:solidFill>
                <a:latin typeface="Calibri"/>
              </a:rPr>
              <a:t>Symptom, config, tries, close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93208" y="2286000"/>
            <a:ext cx="2176272" cy="3017520"/>
          </a:xfrm>
          <a:prstGeom prst="roundRect">
            <a:avLst/>
          </a:prstGeom>
          <a:solidFill>
            <a:srgbClr val="FAF8F2"/>
          </a:solidFill>
          <a:ln w="9525">
            <a:solidFill>
              <a:srgbClr val="C9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2936" y="2468880"/>
            <a:ext cx="1956816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3D4F5F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02936" y="2834640"/>
            <a:ext cx="1956816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1C1F"/>
                </a:solidFill>
                <a:latin typeface="Georgia"/>
              </a:rPr>
              <a:t>Good / bad logs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02936" y="3794760"/>
            <a:ext cx="1956816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C5F66"/>
                </a:solidFill>
                <a:latin typeface="Calibri"/>
              </a:rPr>
              <a:t>Same mode and OFP. Diff is the seed.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34071" y="2286000"/>
            <a:ext cx="2176272" cy="3017520"/>
          </a:xfrm>
          <a:prstGeom prst="roundRect">
            <a:avLst/>
          </a:prstGeom>
          <a:solidFill>
            <a:srgbClr val="3D4F5F"/>
          </a:solidFill>
          <a:ln w="9525">
            <a:solidFill>
              <a:srgbClr val="3D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799" y="2468880"/>
            <a:ext cx="1956816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3EFE6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799" y="2834640"/>
            <a:ext cx="1956816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3EFE6"/>
                </a:solidFill>
                <a:latin typeface="Georgia"/>
              </a:rPr>
              <a:t>Local compiler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799" y="3794760"/>
            <a:ext cx="1956816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9C2B2"/>
                </a:solidFill>
                <a:latin typeface="Calibri"/>
              </a:rPr>
              <a:t>Decode + diff, then Nemotron drafts YAML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74936" y="2286000"/>
            <a:ext cx="2176272" cy="3017520"/>
          </a:xfrm>
          <a:prstGeom prst="roundRect">
            <a:avLst/>
          </a:prstGeom>
          <a:solidFill>
            <a:srgbClr val="1A1C1F"/>
          </a:solidFill>
          <a:ln w="9525">
            <a:solidFill>
              <a:srgbClr val="1A1C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84663" y="2468880"/>
            <a:ext cx="1956816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3EFE6"/>
                </a:solidFill>
                <a:latin typeface="Calibr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84663" y="2834640"/>
            <a:ext cx="1956816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3EFE6"/>
                </a:solidFill>
                <a:latin typeface="Georgia"/>
              </a:rPr>
              <a:t>Reviewed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84663" y="3794760"/>
            <a:ext cx="1956816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9C2B2"/>
                </a:solidFill>
                <a:latin typeface="Calibri"/>
              </a:rPr>
              <a:t>Maturity: draft → lab / FT reviewed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C5F66"/>
                </a:solidFill>
                <a:latin typeface="Calibri"/>
              </a:rPr>
              <a:t>BRAIN BOOK  ·  INTERNAL  ·  CONCEPT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510528"/>
            <a:ext cx="1188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C5F66"/>
                </a:solidFill>
                <a:latin typeface="Calibri"/>
              </a:rPr>
              <a:t>6  / 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3D4F5F"/>
                </a:solidFill>
                <a:latin typeface="Calibri"/>
              </a:rPr>
              <a:t>PHASE 1  ·  CAPTURE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A1C1F"/>
                </a:solidFill>
                <a:latin typeface="Georgia"/>
              </a:rPr>
              <a:t>No ticket closed without a log — or a reason.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65960"/>
            <a:ext cx="6766560" cy="1261872"/>
          </a:xfrm>
          <a:prstGeom prst="roundRect">
            <a:avLst>
              <a:gd name="adj" fmla="val 8000"/>
            </a:avLst>
          </a:prstGeom>
          <a:solidFill>
            <a:srgbClr val="FAF8F2"/>
          </a:solidFill>
          <a:ln w="9525">
            <a:solidFill>
              <a:srgbClr val="C9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075688"/>
            <a:ext cx="6437376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C1F"/>
                </a:solidFill>
                <a:latin typeface="Calibri"/>
              </a:rPr>
              <a:t>Do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386584"/>
            <a:ext cx="6437376" cy="73151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C5F66"/>
                </a:solidFill>
                <a:latin typeface="Calibri"/>
              </a:rPr>
              <a:t>Grep the log/BIT table in code. You cannot name events the software never prints.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337560"/>
            <a:ext cx="6766560" cy="1261872"/>
          </a:xfrm>
          <a:prstGeom prst="roundRect">
            <a:avLst>
              <a:gd name="adj" fmla="val 8000"/>
            </a:avLst>
          </a:prstGeom>
          <a:solidFill>
            <a:srgbClr val="FAF8F2"/>
          </a:solidFill>
          <a:ln w="9525">
            <a:solidFill>
              <a:srgbClr val="C9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3447288"/>
            <a:ext cx="6437376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C1F"/>
                </a:solidFill>
                <a:latin typeface="Calibri"/>
              </a:rPr>
              <a:t>Gold pair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758184"/>
            <a:ext cx="6437376" cy="73151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C5F66"/>
                </a:solidFill>
                <a:latin typeface="Calibri"/>
              </a:rPr>
              <a:t>Ticket + bad log + good log from the same mode and OFP.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709160"/>
            <a:ext cx="6766560" cy="1261872"/>
          </a:xfrm>
          <a:prstGeom prst="roundRect">
            <a:avLst>
              <a:gd name="adj" fmla="val 8000"/>
            </a:avLst>
          </a:prstGeom>
          <a:solidFill>
            <a:srgbClr val="FAF8F2"/>
          </a:solidFill>
          <a:ln w="9525">
            <a:solidFill>
              <a:srgbClr val="C9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4818888"/>
            <a:ext cx="6437376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C1F"/>
                </a:solidFill>
                <a:latin typeface="Calibri"/>
              </a:rPr>
              <a:t>Refuse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5129784"/>
            <a:ext cx="6437376" cy="73151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5C5F66"/>
                </a:solidFill>
                <a:latin typeface="Calibri"/>
              </a:rPr>
              <a:t>Do not invent limits or root cause from source alone. Open questions stay open.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1965960"/>
            <a:ext cx="4114800" cy="4005072"/>
          </a:xfrm>
          <a:prstGeom prst="roundRect">
            <a:avLst/>
          </a:prstGeom>
          <a:solidFill>
            <a:srgbClr val="1A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2240280"/>
            <a:ext cx="3703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3D4F5F"/>
                </a:solidFill>
                <a:latin typeface="Calibri"/>
              </a:rPr>
              <a:t>Close-the-anomaly minimum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743200"/>
            <a:ext cx="3703320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3EFE6"/>
                </a:solidFill>
                <a:latin typeface="Calibri"/>
              </a:rPr>
              <a:t>1. Config (SN, OFP, ICD)
2. Symptom in one sentence
3. Log excerpt — not a 2 GB dump
4. What failed
5. What fixed it, or still open
6. 5–20 lines that would let someone else recognize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C5F66"/>
                </a:solidFill>
                <a:latin typeface="Calibri"/>
              </a:rPr>
              <a:t>BRAIN BOOK  ·  INTERNAL  ·  CONCEPT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510528"/>
            <a:ext cx="1188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C5F66"/>
                </a:solidFill>
                <a:latin typeface="Calibri"/>
              </a:rPr>
              <a:t>7  / 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3D4F5F"/>
                </a:solidFill>
                <a:latin typeface="Calibri"/>
              </a:rPr>
              <a:t>PHASE 2  ·  107 TRIAGE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A1C1F"/>
                </a:solidFill>
                <a:latin typeface="Georgia"/>
              </a:rPr>
              <a:t>Verify missing data before you diagnose.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15568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C5F66"/>
                </a:solidFill>
                <a:latin typeface="Calibri"/>
              </a:rPr>
              <a:t>A thin field report is not a root-cause problem. It is a completeness problem.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640080" cy="822960"/>
          </a:xfrm>
          <a:prstGeom prst="roundRect">
            <a:avLst/>
          </a:prstGeom>
          <a:solidFill>
            <a:srgbClr val="1A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12848"/>
            <a:ext cx="640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F3EFE6"/>
                </a:solidFill>
                <a:latin typeface="Calibri"/>
              </a:rP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011680"/>
            <a:ext cx="10241280" cy="822960"/>
          </a:xfrm>
          <a:prstGeom prst="roundRect">
            <a:avLst/>
          </a:prstGeom>
          <a:solidFill>
            <a:srgbClr val="FAF8F2"/>
          </a:solidFill>
          <a:ln w="9525">
            <a:solidFill>
              <a:srgbClr val="C9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0200" y="2084832"/>
            <a:ext cx="9784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1C1F"/>
                </a:solidFill>
                <a:latin typeface="Calibri"/>
              </a:rPr>
              <a:t>Inbound 107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414016"/>
            <a:ext cx="97840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C5F66"/>
                </a:solidFill>
                <a:latin typeface="Calibri"/>
              </a:rPr>
              <a:t>Free text, attachments, sometimes a log.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17520"/>
            <a:ext cx="640080" cy="822960"/>
          </a:xfrm>
          <a:prstGeom prst="roundRect">
            <a:avLst/>
          </a:prstGeom>
          <a:solidFill>
            <a:srgbClr val="3D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18688"/>
            <a:ext cx="640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F3EFE6"/>
                </a:solidFill>
                <a:latin typeface="Calibri"/>
              </a:rPr>
              <a:t>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3017520"/>
            <a:ext cx="10241280" cy="822960"/>
          </a:xfrm>
          <a:prstGeom prst="roundRect">
            <a:avLst/>
          </a:prstGeom>
          <a:solidFill>
            <a:srgbClr val="FAF8F2"/>
          </a:solidFill>
          <a:ln w="9525">
            <a:solidFill>
              <a:srgbClr val="C9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00200" y="3090672"/>
            <a:ext cx="9784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1C1F"/>
                </a:solidFill>
                <a:latin typeface="Calibri"/>
              </a:rPr>
              <a:t>Completeness 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419856"/>
            <a:ext cx="97840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C5F66"/>
                </a:solidFill>
                <a:latin typeface="Calibri"/>
              </a:rPr>
              <a:t>Extract header. Flag blockers: OFP, SN, last good, already tried, impact.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23360"/>
            <a:ext cx="640080" cy="822960"/>
          </a:xfrm>
          <a:prstGeom prst="roundRect">
            <a:avLst/>
          </a:prstGeom>
          <a:solidFill>
            <a:srgbClr val="1A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224528"/>
            <a:ext cx="640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F3EFE6"/>
                </a:solidFill>
                <a:latin typeface="Calibri"/>
              </a:rPr>
              <a:t>03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4023360"/>
            <a:ext cx="10241280" cy="822960"/>
          </a:xfrm>
          <a:prstGeom prst="roundRect">
            <a:avLst/>
          </a:prstGeom>
          <a:solidFill>
            <a:srgbClr val="FAF8F2"/>
          </a:solidFill>
          <a:ln w="9525">
            <a:solidFill>
              <a:srgbClr val="C9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00200" y="4096512"/>
            <a:ext cx="9784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1C1F"/>
                </a:solidFill>
                <a:latin typeface="Calibri"/>
              </a:rPr>
              <a:t>Context pack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425696"/>
            <a:ext cx="97840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C5F66"/>
                </a:solidFill>
                <a:latin typeface="Calibri"/>
              </a:rPr>
              <a:t>Retrieve signatures only for the stated OFP / block / LRU.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029200"/>
            <a:ext cx="640080" cy="822960"/>
          </a:xfrm>
          <a:prstGeom prst="roundRect">
            <a:avLst/>
          </a:prstGeom>
          <a:solidFill>
            <a:srgbClr val="1A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230368"/>
            <a:ext cx="6400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F3EFE6"/>
                </a:solidFill>
                <a:latin typeface="Calibri"/>
              </a:rPr>
              <a:t>04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5029200"/>
            <a:ext cx="10241280" cy="822960"/>
          </a:xfrm>
          <a:prstGeom prst="roundRect">
            <a:avLst/>
          </a:prstGeom>
          <a:solidFill>
            <a:srgbClr val="FAF8F2"/>
          </a:solidFill>
          <a:ln w="9525">
            <a:solidFill>
              <a:srgbClr val="C9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5102352"/>
            <a:ext cx="9784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1C1F"/>
                </a:solidFill>
                <a:latin typeface="Calibri"/>
              </a:rPr>
              <a:t>Packet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5431536"/>
            <a:ext cx="97840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C5F66"/>
                </a:solidFill>
                <a:latin typeface="Calibri"/>
              </a:rPr>
              <a:t>Questions if incomplete. Else top three hypotheses with kill-checks.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C5F66"/>
                </a:solidFill>
                <a:latin typeface="Calibri"/>
              </a:rPr>
              <a:t>BRAIN BOOK  ·  INTERNAL  ·  CONCEPT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510528"/>
            <a:ext cx="1188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C5F66"/>
                </a:solidFill>
                <a:latin typeface="Calibri"/>
              </a:rPr>
              <a:t>8  / 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3D4F5F"/>
                </a:solidFill>
                <a:latin typeface="Calibri"/>
              </a:rPr>
              <a:t>PHASE 2  ·  COMPLETENESS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A1C1F"/>
                </a:solidFill>
                <a:latin typeface="Georgia"/>
              </a:rPr>
              <a:t>If these are blank, the output is questions.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65960"/>
            <a:ext cx="5532120" cy="868680"/>
          </a:xfrm>
          <a:prstGeom prst="roundRect">
            <a:avLst/>
          </a:prstGeom>
          <a:solidFill>
            <a:srgbClr val="FAF8F2"/>
          </a:solidFill>
          <a:ln w="9525">
            <a:solidFill>
              <a:srgbClr val="C9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2203704"/>
            <a:ext cx="384048" cy="384048"/>
          </a:xfrm>
          <a:prstGeom prst="ellipse">
            <a:avLst/>
          </a:prstGeom>
          <a:solidFill>
            <a:srgbClr val="1A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40279"/>
            <a:ext cx="384048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3EFE6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221991"/>
            <a:ext cx="4572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A1C1F"/>
                </a:solidFill>
                <a:latin typeface="Calibri"/>
              </a:rPr>
              <a:t>Unit, site, POC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965960"/>
            <a:ext cx="5532120" cy="868680"/>
          </a:xfrm>
          <a:prstGeom prst="roundRect">
            <a:avLst/>
          </a:prstGeom>
          <a:solidFill>
            <a:srgbClr val="FAF8F2"/>
          </a:solidFill>
          <a:ln w="9525">
            <a:solidFill>
              <a:srgbClr val="C9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92240" y="2203704"/>
            <a:ext cx="384048" cy="384048"/>
          </a:xfrm>
          <a:prstGeom prst="ellipse">
            <a:avLst/>
          </a:prstGeom>
          <a:solidFill>
            <a:srgbClr val="1A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240279"/>
            <a:ext cx="384048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3EFE6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79" y="2221991"/>
            <a:ext cx="4572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A1C1F"/>
                </a:solidFill>
                <a:latin typeface="Calibri"/>
              </a:rPr>
              <a:t>MDS / NSN / part / SN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71800"/>
            <a:ext cx="5532120" cy="868680"/>
          </a:xfrm>
          <a:prstGeom prst="roundRect">
            <a:avLst/>
          </a:prstGeom>
          <a:solidFill>
            <a:srgbClr val="FAF8F2"/>
          </a:solidFill>
          <a:ln w="9525">
            <a:solidFill>
              <a:srgbClr val="C9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209544"/>
            <a:ext cx="384048" cy="384048"/>
          </a:xfrm>
          <a:prstGeom prst="ellipse">
            <a:avLst/>
          </a:prstGeom>
          <a:solidFill>
            <a:srgbClr val="1A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46120"/>
            <a:ext cx="384048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3EFE6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227832"/>
            <a:ext cx="4572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A1C1F"/>
                </a:solidFill>
                <a:latin typeface="Calibri"/>
              </a:rPr>
              <a:t>SW / OFP / TO in use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2971800"/>
            <a:ext cx="5532120" cy="868680"/>
          </a:xfrm>
          <a:prstGeom prst="roundRect">
            <a:avLst/>
          </a:prstGeom>
          <a:solidFill>
            <a:srgbClr val="FAF8F2"/>
          </a:solidFill>
          <a:ln w="9525">
            <a:solidFill>
              <a:srgbClr val="C9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3209544"/>
            <a:ext cx="384048" cy="384048"/>
          </a:xfrm>
          <a:prstGeom prst="ellipse">
            <a:avLst/>
          </a:prstGeom>
          <a:solidFill>
            <a:srgbClr val="1A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246120"/>
            <a:ext cx="384048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3EFE6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79" y="3227832"/>
            <a:ext cx="4572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A1C1F"/>
                </a:solidFill>
                <a:latin typeface="Calibri"/>
              </a:rPr>
              <a:t>First seen vs last known good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77639"/>
            <a:ext cx="5532120" cy="868680"/>
          </a:xfrm>
          <a:prstGeom prst="roundRect">
            <a:avLst/>
          </a:prstGeom>
          <a:solidFill>
            <a:srgbClr val="FAF8F2"/>
          </a:solidFill>
          <a:ln w="9525">
            <a:solidFill>
              <a:srgbClr val="C9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4215383"/>
            <a:ext cx="384048" cy="384048"/>
          </a:xfrm>
          <a:prstGeom prst="ellipse">
            <a:avLst/>
          </a:prstGeom>
          <a:solidFill>
            <a:srgbClr val="1A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251959"/>
            <a:ext cx="384048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3EFE6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233672"/>
            <a:ext cx="4572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A1C1F"/>
                </a:solidFill>
                <a:latin typeface="Calibri"/>
              </a:rPr>
              <a:t>Mission impact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59" y="3977639"/>
            <a:ext cx="5532120" cy="868680"/>
          </a:xfrm>
          <a:prstGeom prst="roundRect">
            <a:avLst/>
          </a:prstGeom>
          <a:solidFill>
            <a:srgbClr val="FAF8F2"/>
          </a:solidFill>
          <a:ln w="9525">
            <a:solidFill>
              <a:srgbClr val="C9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2240" y="4215383"/>
            <a:ext cx="384048" cy="384048"/>
          </a:xfrm>
          <a:prstGeom prst="ellipse">
            <a:avLst/>
          </a:prstGeom>
          <a:solidFill>
            <a:srgbClr val="1A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4251959"/>
            <a:ext cx="384048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3EFE6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79" y="4233672"/>
            <a:ext cx="4572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A1C1F"/>
                </a:solidFill>
                <a:latin typeface="Calibri"/>
              </a:rPr>
              <a:t>Symptom + BIT / fault code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983480"/>
            <a:ext cx="5532120" cy="868680"/>
          </a:xfrm>
          <a:prstGeom prst="roundRect">
            <a:avLst/>
          </a:prstGeom>
          <a:solidFill>
            <a:srgbClr val="FAF8F2"/>
          </a:solidFill>
          <a:ln w="9525">
            <a:solidFill>
              <a:srgbClr val="C9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1520" y="5221224"/>
            <a:ext cx="384048" cy="384048"/>
          </a:xfrm>
          <a:prstGeom prst="ellipse">
            <a:avLst/>
          </a:prstGeom>
          <a:solidFill>
            <a:srgbClr val="1A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257800"/>
            <a:ext cx="384048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3EFE6"/>
                </a:solidFill>
                <a:latin typeface="Calibri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5239512"/>
            <a:ext cx="4572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A1C1F"/>
                </a:solidFill>
                <a:latin typeface="Calibri"/>
              </a:rPr>
              <a:t>What they already tried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59" y="4983480"/>
            <a:ext cx="5532120" cy="868680"/>
          </a:xfrm>
          <a:prstGeom prst="roundRect">
            <a:avLst/>
          </a:prstGeom>
          <a:solidFill>
            <a:srgbClr val="FAF8F2"/>
          </a:solidFill>
          <a:ln w="9525">
            <a:solidFill>
              <a:srgbClr val="C9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92240" y="5221224"/>
            <a:ext cx="384048" cy="384048"/>
          </a:xfrm>
          <a:prstGeom prst="ellipse">
            <a:avLst/>
          </a:prstGeom>
          <a:solidFill>
            <a:srgbClr val="1A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5257800"/>
            <a:ext cx="384048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3EFE6"/>
                </a:solidFill>
                <a:latin typeface="Calibri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79" y="5239512"/>
            <a:ext cx="4572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A1C1F"/>
                </a:solidFill>
                <a:latin typeface="Calibri"/>
              </a:rPr>
              <a:t>Log, or explicit no-log reason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C5F66"/>
                </a:solidFill>
                <a:latin typeface="Calibri"/>
              </a:rPr>
              <a:t>BRAIN BOOK  ·  INTERNAL  ·  CONCEPT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6510528"/>
            <a:ext cx="1188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C5F66"/>
                </a:solidFill>
                <a:latin typeface="Calibri"/>
              </a:rPr>
              <a:t>9  / 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3D4F5F"/>
                </a:solidFill>
                <a:latin typeface="Calibri"/>
              </a:rPr>
              <a:t>PHASE 3  ·  FSR 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A1C1F"/>
                </a:solidFill>
                <a:latin typeface="Georgia"/>
              </a:rPr>
              <a:t>Parse logs. Match signatures. One next check.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2148840"/>
            <a:ext cx="2176272" cy="3200400"/>
          </a:xfrm>
          <a:prstGeom prst="round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9496" y="2331720"/>
            <a:ext cx="1920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3D4F5F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" y="2743200"/>
            <a:ext cx="19202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1C1F"/>
                </a:solidFill>
                <a:latin typeface="Georgia"/>
              </a:rPr>
              <a:t>Dump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" y="3474720"/>
            <a:ext cx="192024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C5F66"/>
                </a:solidFill>
                <a:latin typeface="Calibri"/>
              </a:rPr>
              <a:t>BIT, MC text, syslog attached to the case.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52344" y="2148840"/>
            <a:ext cx="2176272" cy="3200400"/>
          </a:xfrm>
          <a:prstGeom prst="round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2331720"/>
            <a:ext cx="1920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3D4F5F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743200"/>
            <a:ext cx="19202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1C1F"/>
                </a:solidFill>
                <a:latin typeface="Georgia"/>
              </a:rPr>
              <a:t>Decode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3474720"/>
            <a:ext cx="192024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C5F66"/>
                </a:solidFill>
                <a:latin typeface="Calibri"/>
              </a:rPr>
              <a:t>Parser per family → time, source, code, raw.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93208" y="2148840"/>
            <a:ext cx="2176272" cy="3200400"/>
          </a:xfrm>
          <a:prstGeom prst="round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21224" y="2331720"/>
            <a:ext cx="1920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3D4F5F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21224" y="2743200"/>
            <a:ext cx="19202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1C1F"/>
                </a:solidFill>
                <a:latin typeface="Georgia"/>
              </a:rPr>
              <a:t>Match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21224" y="3474720"/>
            <a:ext cx="192024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C5F66"/>
                </a:solidFill>
                <a:latin typeface="Calibri"/>
              </a:rPr>
              <a:t>Codes, sequences, OFP filters vs reviewed SIGs.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34071" y="2148840"/>
            <a:ext cx="2176272" cy="3200400"/>
          </a:xfrm>
          <a:prstGeom prst="roundRect">
            <a:avLst/>
          </a:prstGeom>
          <a:solidFill>
            <a:srgbClr val="3D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62088" y="2331720"/>
            <a:ext cx="1920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3EFE6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2088" y="2743200"/>
            <a:ext cx="19202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3EFE6"/>
                </a:solidFill>
                <a:latin typeface="Georgia"/>
              </a:rPr>
              <a:t>Residue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2088" y="3474720"/>
            <a:ext cx="192024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9C2B2"/>
                </a:solidFill>
                <a:latin typeface="Calibri"/>
              </a:rPr>
              <a:t>Nemotron names unmatched lines, fills IS/IS-NOT.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74936" y="2148840"/>
            <a:ext cx="2176272" cy="3200400"/>
          </a:xfrm>
          <a:prstGeom prst="roundRect">
            <a:avLst/>
          </a:prstGeom>
          <a:solidFill>
            <a:srgbClr val="1A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02952" y="2331720"/>
            <a:ext cx="1920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3EFE6"/>
                </a:solidFill>
                <a:latin typeface="Calibr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02952" y="2743200"/>
            <a:ext cx="19202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3EFE6"/>
                </a:solidFill>
                <a:latin typeface="Georgia"/>
              </a:rPr>
              <a:t>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2952" y="3474720"/>
            <a:ext cx="192024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9C2B2"/>
                </a:solidFill>
                <a:latin typeface="Calibri"/>
              </a:rPr>
              <a:t>One check. Expected if true. Result that kills 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C5F66"/>
                </a:solidFill>
                <a:latin typeface="Calibri"/>
              </a:rPr>
              <a:t>BRAIN BOOK  ·  INTERNAL  ·  CONCEPT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510528"/>
            <a:ext cx="1188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C5F66"/>
                </a:solidFill>
                <a:latin typeface="Calibri"/>
              </a:rPr>
              <a:t>10  / 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3D4F5F"/>
                </a:solidFill>
                <a:latin typeface="Calibri"/>
              </a:rPr>
              <a:t>PHASE 3  ·  RCA CONSTRUCTS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A1C1F"/>
                </a:solidFill>
                <a:latin typeface="Georgia"/>
              </a:rPr>
              <a:t>Use a short ladder. Do not offer six methodologies.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993392"/>
            <a:ext cx="457200" cy="457200"/>
          </a:xfrm>
          <a:prstGeom prst="ellipse">
            <a:avLst/>
          </a:prstGeom>
          <a:solidFill>
            <a:srgbClr val="1A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48256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3EFE6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20240"/>
            <a:ext cx="3840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1C1F"/>
                </a:solidFill>
                <a:latin typeface="Calibri"/>
              </a:rPr>
              <a:t>IS / IS-NOT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920240"/>
            <a:ext cx="62179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C5F66"/>
                </a:solidFill>
                <a:latin typeface="Calibri"/>
              </a:rPr>
              <a:t>What, where, when, extent. Highest value on a thin report.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816352"/>
            <a:ext cx="457200" cy="457200"/>
          </a:xfrm>
          <a:prstGeom prst="ellipse">
            <a:avLst/>
          </a:prstGeom>
          <a:solidFill>
            <a:srgbClr val="1A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871216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3EFE6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743200"/>
            <a:ext cx="3840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1C1F"/>
                </a:solidFill>
                <a:latin typeface="Calibri"/>
              </a:rPr>
              <a:t>Change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743200"/>
            <a:ext cx="62179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C5F66"/>
                </a:solidFill>
                <a:latin typeface="Calibri"/>
              </a:rPr>
              <a:t>OFP, cable, site, season, TCTO, last known good.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639312"/>
            <a:ext cx="457200" cy="457200"/>
          </a:xfrm>
          <a:prstGeom prst="ellipse">
            <a:avLst/>
          </a:prstGeom>
          <a:solidFill>
            <a:srgbClr val="1A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94176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3EFE6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566160"/>
            <a:ext cx="3840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1C1F"/>
                </a:solidFill>
                <a:latin typeface="Calibri"/>
              </a:rPr>
              <a:t>Signature match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566160"/>
            <a:ext cx="62179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C5F66"/>
                </a:solidFill>
                <a:latin typeface="Calibri"/>
              </a:rPr>
              <a:t>Events versus baselines. Deterministic.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462272"/>
            <a:ext cx="457200" cy="457200"/>
          </a:xfrm>
          <a:prstGeom prst="ellipse">
            <a:avLst/>
          </a:prstGeom>
          <a:solidFill>
            <a:srgbClr val="1A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517136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3EFE6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389120"/>
            <a:ext cx="3840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1C1F"/>
                </a:solidFill>
                <a:latin typeface="Calibri"/>
              </a:rPr>
              <a:t>Fishbone with 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389120"/>
            <a:ext cx="62179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C5F66"/>
                </a:solidFill>
                <a:latin typeface="Calibri"/>
              </a:rPr>
              <a:t>Bones: untested / supported / ruled-out. Hypothesis board, not evidence.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285232"/>
            <a:ext cx="457200" cy="457200"/>
          </a:xfrm>
          <a:prstGeom prst="ellipse">
            <a:avLst/>
          </a:prstGeom>
          <a:solidFill>
            <a:srgbClr val="1A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340096"/>
            <a:ext cx="457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3EFE6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212080"/>
            <a:ext cx="3840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1C1F"/>
                </a:solidFill>
                <a:latin typeface="Calibri"/>
              </a:rPr>
              <a:t>One kill-check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5212080"/>
            <a:ext cx="62179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C5F66"/>
                </a:solidFill>
                <a:latin typeface="Calibri"/>
              </a:rPr>
              <a:t>Then 5 Whys only on the surviving branch.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C5F66"/>
                </a:solidFill>
                <a:latin typeface="Calibri"/>
              </a:rPr>
              <a:t>BRAIN BOOK  ·  INTERNAL  ·  CONCEPT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510528"/>
            <a:ext cx="1188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C5F66"/>
                </a:solidFill>
                <a:latin typeface="Calibri"/>
              </a:rPr>
              <a:t>11  / 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3D4F5F"/>
                </a:solidFill>
                <a:latin typeface="Calibri"/>
              </a:rPr>
              <a:t>DEMO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A1C1F"/>
                </a:solidFill>
                <a:latin typeface="Georgia"/>
              </a:rPr>
              <a:t>Open, local, small. Nemotron on the box.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920240"/>
            <a:ext cx="11064240" cy="457200"/>
          </a:xfrm>
          <a:prstGeom prst="rect">
            <a:avLst/>
          </a:prstGeom>
          <a:solidFill>
            <a:srgbClr val="1A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93392"/>
            <a:ext cx="2194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3EFE6"/>
                </a:solidFill>
                <a:latin typeface="Calibri"/>
              </a:rPr>
              <a:t>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993392"/>
            <a:ext cx="4754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3EFE6"/>
                </a:solidFill>
                <a:latin typeface="Calibri"/>
              </a:rPr>
              <a:t>CHOICE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993392"/>
            <a:ext cx="3474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F3EFE6"/>
                </a:solidFill>
                <a:latin typeface="Calibri"/>
              </a:rPr>
              <a:t>WHY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77440"/>
            <a:ext cx="11064240" cy="713232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1C1F"/>
                </a:solidFill>
                <a:latin typeface="Calibri"/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560320"/>
            <a:ext cx="4754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C1F"/>
                </a:solidFill>
                <a:latin typeface="Calibri"/>
              </a:rPr>
              <a:t>NVIDIA Nemotron 3.5 Lightning via Ollama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560320"/>
            <a:ext cx="3474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C5F66"/>
                </a:solidFill>
                <a:latin typeface="Calibri"/>
              </a:rPr>
              <a:t>Open weights, agentic, ~30B / ~3B active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90672"/>
            <a:ext cx="11064240" cy="713232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73552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1C1F"/>
                </a:solidFill>
                <a:latin typeface="Calibri"/>
              </a:rPr>
              <a:t>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273552"/>
            <a:ext cx="4754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C1F"/>
                </a:solidFill>
                <a:latin typeface="Calibri"/>
              </a:rPr>
              <a:t>Open WebUI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273552"/>
            <a:ext cx="3474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C5F66"/>
                </a:solidFill>
                <a:latin typeface="Calibri"/>
              </a:rPr>
              <a:t>No custom application in v1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803904"/>
            <a:ext cx="11064240" cy="713232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986784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1C1F"/>
                </a:solidFill>
                <a:latin typeface="Calibri"/>
              </a:rPr>
              <a:t>Decode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986784"/>
            <a:ext cx="4754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C1F"/>
                </a:solidFill>
                <a:latin typeface="Calibri"/>
              </a:rPr>
              <a:t>Python parsers + ripgrep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986784"/>
            <a:ext cx="3474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C5F66"/>
                </a:solidFill>
                <a:latin typeface="Calibri"/>
              </a:rPr>
              <a:t>Logs and source stay deterministic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517136"/>
            <a:ext cx="11064240" cy="713232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700016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1C1F"/>
                </a:solidFill>
                <a:latin typeface="Calibri"/>
              </a:rPr>
              <a:t>Store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4700016"/>
            <a:ext cx="4754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C1F"/>
                </a:solidFill>
                <a:latin typeface="Calibri"/>
              </a:rPr>
              <a:t>Git Markdown / YAML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4700016"/>
            <a:ext cx="3474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C5F66"/>
                </a:solidFill>
                <a:latin typeface="Calibri"/>
              </a:rPr>
              <a:t>Reviewable, versioned to OFP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230368"/>
            <a:ext cx="11064240" cy="713232"/>
          </a:xfrm>
          <a:prstGeom prst="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413248"/>
            <a:ext cx="2194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1C1F"/>
                </a:solidFill>
                <a:latin typeface="Calibri"/>
              </a:rPr>
              <a:t>Out of scope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5413248"/>
            <a:ext cx="4754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A1C1F"/>
                </a:solidFill>
                <a:latin typeface="Calibri"/>
              </a:rPr>
              <a:t>Cloud LLM, Wiki, LGTM, MCP mesh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5413248"/>
            <a:ext cx="3474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C5F66"/>
                </a:solidFill>
                <a:latin typeface="Calibri"/>
              </a:rPr>
              <a:t>Add only after signatures are trusted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C5F66"/>
                </a:solidFill>
                <a:latin typeface="Calibri"/>
              </a:rPr>
              <a:t>BRAIN BOOK  ·  INTERNAL  ·  CONCEPT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510528"/>
            <a:ext cx="1188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C5F66"/>
                </a:solidFill>
                <a:latin typeface="Calibri"/>
              </a:rPr>
              <a:t>12  / 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F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3D4F5F"/>
                </a:solidFill>
                <a:latin typeface="Calibri"/>
              </a:rPr>
              <a:t>SPONSORSHIP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75488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A1C1F"/>
                </a:solidFill>
                <a:latin typeface="Georgia"/>
              </a:rPr>
              <a:t>Fund the compiler, not a platform.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2743200" cy="2377440"/>
          </a:xfrm>
          <a:prstGeom prst="round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3D4F5F"/>
                </a:solidFill>
                <a:latin typeface="Calibri"/>
              </a:rPr>
              <a:t>PEOPLE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237744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1C1F"/>
                </a:solidFill>
                <a:latin typeface="Georgia"/>
              </a:rPr>
              <a:t>2–3 part-time
8–12 weeks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011680"/>
            <a:ext cx="2743200" cy="2377440"/>
          </a:xfrm>
          <a:prstGeom prst="round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219456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3D4F5F"/>
                </a:solidFill>
                <a:latin typeface="Calibri"/>
              </a:rPr>
              <a:t>HARDWARE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651760"/>
            <a:ext cx="237744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1C1F"/>
                </a:solidFill>
                <a:latin typeface="Georgia"/>
              </a:rPr>
              <a:t>One existing
GPU workstation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2011680"/>
            <a:ext cx="2743200" cy="2377440"/>
          </a:xfrm>
          <a:prstGeom prst="roundRect">
            <a:avLst/>
          </a:prstGeom>
          <a:solidFill>
            <a:srgbClr val="FA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3D4F5F"/>
                </a:solidFill>
                <a:latin typeface="Calibri"/>
              </a:rPr>
              <a:t>CORPUS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651760"/>
            <a:ext cx="237744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A1C1F"/>
                </a:solidFill>
                <a:latin typeface="Georgia"/>
              </a:rPr>
              <a:t>One subsystem, one OFP
~20 tickets with logs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19" y="2011680"/>
            <a:ext cx="2743200" cy="2377440"/>
          </a:xfrm>
          <a:prstGeom prst="roundRect">
            <a:avLst/>
          </a:prstGeom>
          <a:solidFill>
            <a:srgbClr val="1A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599" y="219456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3D4F5F"/>
                </a:solidFill>
                <a:latin typeface="Calibri"/>
              </a:rPr>
              <a:t>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599" y="2651760"/>
            <a:ext cx="237744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3EFE6"/>
                </a:solidFill>
                <a:latin typeface="Georgia"/>
              </a:rPr>
              <a:t>10 reviewed signatures
engineers recognize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709160"/>
            <a:ext cx="109728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C5F66"/>
                </a:solidFill>
                <a:latin typeface="Calibri"/>
              </a:rPr>
              <a:t>Success is not “the model found root cause.” Success is: the eventual cause was already in the top three after decode, or the FSR ran the distinguishing test the same day and the case closed with a new reviewed signature instead of a verbal.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C5F66"/>
                </a:solidFill>
                <a:latin typeface="Calibri"/>
              </a:rPr>
              <a:t>BRAIN BOOK  ·  INTERNAL  ·  CONCEPT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510528"/>
            <a:ext cx="1188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5C5F66"/>
                </a:solidFill>
                <a:latin typeface="Calibri"/>
              </a:rPr>
              <a:t>13  / 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C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3D4F5F"/>
                </a:solidFill>
                <a:latin typeface="Calibri"/>
              </a:rPr>
              <a:t>NON-GOALS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F3EFE6"/>
                </a:solidFill>
                <a:latin typeface="Georgia"/>
              </a:rPr>
              <a:t>Advise. Do not dispose.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F3EFE6"/>
                </a:solidFill>
                <a:latin typeface="Calibri"/>
              </a:rPr>
              <a:t>  No cloud tokens. Source, tickets, and logs stay on the box.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F3EFE6"/>
                </a:solidFill>
                <a:latin typeface="Calibri"/>
              </a:rPr>
              <a:t>  No official 107 / JDRS write-back.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F3EFE6"/>
                </a:solidFill>
                <a:latin typeface="Calibri"/>
              </a:rPr>
              <a:t>  No commanding hardware or live aircraft interfaces.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40479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F3EFE6"/>
                </a:solidFill>
                <a:latin typeface="Calibri"/>
              </a:rPr>
              <a:t>  No inventing limits that are not in retrieved text.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8056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F3EFE6"/>
                </a:solidFill>
                <a:latin typeface="Calibri"/>
              </a:rPr>
              <a:t>  The signed procedure and the FSR remain authoritative.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3504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C5F66"/>
                </a:solidFill>
                <a:latin typeface="Calibri"/>
              </a:rPr>
              <a:t>The Brain Book is memory. Disposition stays human.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